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HOUSE OF ARCHITECTURE &amp; INTERIORS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7315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CADCFC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From Drawing to Breathing</a:t>
            </a:r>
          </a:p>
          <a:p>
            <a:pPr algn="l">
              <a:spcAft>
                <a:spcPts val="1600"/>
              </a:spcAft>
              <a:defRPr sz="3600" b="1">
                <a:solidFill>
                  <a:srgbClr val="D4A537"/>
                </a:solidFill>
                <a:latin typeface="Calibri"/>
              </a:defRPr>
            </a:pPr>
            <a:r>
              <a:t>Governance as Amanah</a:t>
            </a:r>
          </a:p>
          <a:p>
            <a:pPr algn="l">
              <a:spcAft>
                <a:spcPts val="1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Stages 0 through 8  |  RIBA Plan of Work 2020  |  31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>
                <a:solidFill>
                  <a:srgbClr val="F5E6C8"/>
                </a:solidFill>
                <a:latin typeface="Calibri"/>
              </a:defRPr>
            </a:pPr>
            <a:r>
              <a:t>“Indeed, Allah commands you to render trusts to whom they are due.”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  — An-Nisa 4:58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Presented by: Hasan Mollamahmutoglu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Chief Governance Architect  |  Employer's Representative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447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Why governance matters for HAI projects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848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SkyStruct Platform — what it does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2491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Full Lifecycle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Stages 0–8, mapped to RIBA/RICS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83279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64991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31 Process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1187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Every governance process, categorized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0507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Dual Contract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51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Construction + Consultancy coverage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Governance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920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Approvals, escalation, stage gates, freezes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303519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85231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Deliverables &amp; Implementation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53211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48+ documents, phased rollout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943599"/>
            <a:ext cx="411480" cy="4114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925311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Next Steps &amp;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17219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463040"/>
            <a:ext cx="34747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645920"/>
            <a:ext cx="3017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TIME ALLOCATION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Presentation:  ~30 min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Q&amp;A Session:   ~10 min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1E2761"/>
                </a:solidFill>
                <a:latin typeface="Calibri"/>
              </a:defRPr>
            </a:pPr>
            <a:r>
              <a:t>Total:               40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2103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Fragmented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Spreadsheets, emails, and manual tracking across construction and consultancy contracts. No single source of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292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73152" cy="21031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Time-Bar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572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FIDIC contractual deadlines (28-day, 42-day, 56-day notices) managed manually — missed deadlines mean forfeited rights.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0292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73152" cy="210312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No Stage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572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No structured gate-based progression. Projects jump from design to construction without formal checkpoints.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0292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73152" cy="210312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Dual Contract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4572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Both construction (FIDIC Red Book) and supervision consultancy contracts require parallel governance — currently unlinked.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SOLUTION: FROM DRAWING TO BREATHING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36454F"/>
                </a:solidFill>
                <a:latin typeface="Calibri"/>
              </a:defRPr>
            </a:pPr>
            <a:r>
              <a:t>A single, integrated platform that governs every decision, document, and deadline — from pre-inception to post-completion.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56032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980"/>
              </a:lnSpc>
              <a:spcAft>
                <a:spcPts val="0"/>
              </a:spcAft>
              <a:defRPr sz="5200" b="1">
                <a:solidFill>
                  <a:srgbClr val="1E2761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4A537"/>
                </a:solidFill>
                <a:latin typeface="Calibri"/>
              </a:defRPr>
            </a:pPr>
            <a:r>
              <a:t>Process 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Every governance process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codified and automated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194560"/>
            <a:ext cx="256032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980"/>
              </a:lnSpc>
              <a:spcAft>
                <a:spcPts val="0"/>
              </a:spcAft>
              <a:defRPr sz="5200" b="1">
                <a:solidFill>
                  <a:srgbClr val="1E276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4A537"/>
                </a:solidFill>
                <a:latin typeface="Calibri"/>
              </a:defRPr>
            </a:pPr>
            <a:r>
              <a:t>Stage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6576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0 through 8 checkpoints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RIBA/RICS aligned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94560"/>
            <a:ext cx="256032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980"/>
              </a:lnSpc>
              <a:spcAft>
                <a:spcPts val="0"/>
              </a:spcAft>
              <a:defRPr sz="5200" b="1">
                <a:solidFill>
                  <a:srgbClr val="1E276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4A537"/>
                </a:solidFill>
                <a:latin typeface="Calibri"/>
              </a:defRPr>
            </a:pPr>
            <a:r>
              <a:t>Escalation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L1 to L5 with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auto-triggered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194560"/>
            <a:ext cx="256032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37744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980"/>
              </a:lnSpc>
              <a:spcAft>
                <a:spcPts val="0"/>
              </a:spcAft>
              <a:defRPr sz="5200" b="1">
                <a:solidFill>
                  <a:srgbClr val="1E2761"/>
                </a:solidFill>
                <a:latin typeface="Calibri"/>
              </a:defRPr>
            </a:pPr>
            <a:r>
              <a:t>48+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4A537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65760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Complete implementation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package delivered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9875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KEY DIFFERENTIATOR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Parametric contract configuration — zero hardcoded values. Every contractual threshold, duration, and deadline is configurable per project. Supports both FIDIC 1999 Red Book (construction) and bespoke consultancy contracts simultaneously.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FULL LIFECYCLE COVERAGE: STAGES 0–8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36454F"/>
                </a:solidFill>
                <a:latin typeface="Calibri"/>
              </a:defRPr>
            </a:pPr>
            <a:r>
              <a:t>Every stage of the project lifecycle is governed — aligned to RIBA Plan of Work and RICS lifecycle stages.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11247120" cy="914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051560" cy="9144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0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Strategic Def.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0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Strategic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" y="2103120"/>
            <a:ext cx="1051560" cy="9144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912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1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Prep &amp; Brief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1912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1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Preparation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&amp; Briefing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6624" y="2103120"/>
            <a:ext cx="1051560" cy="91440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2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Concept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6624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52344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2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Concept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1336" y="2103120"/>
            <a:ext cx="1051560" cy="91440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1336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3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Spatial Coord.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31336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77056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3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Spatial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2103120"/>
            <a:ext cx="1051560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3.1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Developed Dsgn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31536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56048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3+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Developed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103120"/>
            <a:ext cx="1051560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4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Technical Dsgn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56248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4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Technical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2" y="2103120"/>
            <a:ext cx="105156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5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Construction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05472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5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Manufacturing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&amp; Construction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0184" y="2103120"/>
            <a:ext cx="1051560" cy="914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0184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6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Handover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05672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30184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75904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6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Handover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54896" y="2103120"/>
            <a:ext cx="1051560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6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7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Use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30384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54896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0616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RIBA 7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Use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79608" y="2103120"/>
            <a:ext cx="105156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79608" y="2176272"/>
            <a:ext cx="1051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8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Post-Completion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55096" y="3017520"/>
            <a:ext cx="91440" cy="2286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579608" y="3291840"/>
            <a:ext cx="10515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25328" y="3383280"/>
            <a:ext cx="96012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Post-RIBA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Review &amp;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HAI STAGE GATES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2971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RIBA / RICS ALIGNMENT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937760"/>
            <a:ext cx="1124712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029200"/>
            <a:ext cx="10789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300" b="1">
                <a:solidFill>
                  <a:srgbClr val="1E2761"/>
                </a:solidFill>
                <a:latin typeface="Calibri"/>
              </a:defRPr>
            </a:pPr>
            <a:r>
              <a:t>RIBA PLAN OF WORK 2020 ALIGNMENT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Stage 0: Strategic Definition  |  Stage 1: Preparation &amp; Briefing  |  Stage 2: Concept Design  |  Stage 3: Spatial Coordination  |  Stage 4: Technical Design  |  Stage 5: Manufacturing &amp; Construction  |  Stage 6: Handover  |  Stage 7: Use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A8A8A"/>
                </a:solidFill>
                <a:latin typeface="Calibri"/>
              </a:defRPr>
            </a:pPr>
            <a:r>
              <a:t>Each gate has RIBA-defined outcomes, formal prerequisites, exit checklists, freeze activation triggers, and configurable approval routing — all automated within SkyStruct.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STAGES 0–2: DEFINITION, BRIEFING &amp;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RIBA 0–2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0 — Strategic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Business case &amp; strategic brief developed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2E7D32"/>
                </a:solidFill>
                <a:latin typeface="Calibri"/>
              </a:defRPr>
            </a:pPr>
            <a:r>
              <a:t>✓  Project budget &amp; programme aligned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Site information gathered &amp; appraised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Platform initialized: 60+ configurable parameters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Contract terms loaded (construction + consultancy)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566160" cy="7315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1 — Preparation &amp;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Project Brief developed and approved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2E7D32"/>
                </a:solidFill>
                <a:latin typeface="Calibri"/>
              </a:defRPr>
            </a:pPr>
            <a:r>
              <a:t>✓  Feasibility studies completed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Procurement strategy defined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Project team assembled, roles assigned (PF-19)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Document management &amp; correspondence live (PF-01/02)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371600"/>
            <a:ext cx="3566160" cy="73152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2 — Concept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Concept Design prepared and approved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Cost Plan aligned to project budget (PF-05)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Outline structural &amp; building services design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Planning strategy agreed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Risk register initiated with design risks (PF-12)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✓ GREEN = Approved    ● AMBER = In Progress    ○ = 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STAGES 3–4: COORDINATION &amp; TECHNICAL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RIBA 3–4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3 — Spatial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Spatially coordinated design completed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Updated Cost Plan &amp; cost checks (PF-05)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Architectural, structural &amp; MEP coordinated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Planning application submitted (if applicable)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2E7D32"/>
                </a:solidFill>
                <a:latin typeface="Calibri"/>
              </a:defRPr>
            </a:pPr>
            <a:r>
              <a:t>✓  Budget Freeze workflow defined (PF-06)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566160" cy="73152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3+ — Developed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Design Freeze Exception workflow defined (PF-06)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Quality supervision process defined (PF-12)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Specialist subcontractor design coordination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Design freeze criteria formally defined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Change control procedures established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371600"/>
            <a:ext cx="3566160" cy="73152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4 — Technical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Technical design for manufacture &amp; construction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Construction strategy determined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Specialist subcontractor designs completed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Procurement workflow defined: RFP to award (PF-07)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Variation/change order workflow defined (PF-04)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✓ GREEN = Approved    ● AMBER = In Progress    ○ = 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STAGE 5: MANUFACTURING &amp;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RIBA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36454F"/>
                </a:solidFill>
                <a:latin typeface="Calibri"/>
              </a:defRPr>
            </a:pPr>
            <a:r>
              <a:t>The most process-intensive stage — all 31 process flows are active. Two parallel execution tracks operate simultaneously.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8483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TRACK A: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02920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PF-01  Document Review &amp; Submission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PF-02  FIDIC Correspondence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PF-10  Authority Submissions (DC1/DC2/BCC/NOC)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PF-12  Inspection Requests &amp; NCR Lifecycle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PF-13  Daily/Weekly Site Reporting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PF-24  Mobilization Management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PF-31  Snag List Creation &amp; Resolution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486400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486400" cy="4572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8483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TRACK B: 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502920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PF-03  IPC Certification &amp; Payment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PF-04  Variation / Change Order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PF-05  Budget Approval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PF-06  Freeze Exception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PF-09  Approval Matrix Routing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PF-27  Consultant Performance &amp; Payment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PF-22  Predictive Cost Deviation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STAGES 6–8: HANDOVER, USE &amp; POST-COMPLETION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RIBA 6–7+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6 — Handover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Building handed over to Employer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TOC management workflow defined (PF-28)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Handover package workflow defined (PF-14)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Snag list workflow defined (PF-31)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T&amp;C / GSAS compliance workflow defined (PF-25)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566160" cy="7315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7 —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Building in use — FM active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DLP defect lifecycle workflow defined (PF-15)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Post-Occupancy workflow defined (PF-26)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Final Account workflow defined (PF-29)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Performance Certificate workflow defined (PF-30)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56616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371600"/>
            <a:ext cx="3566160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Stage 8 — Post-Completion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11680"/>
            <a:ext cx="3200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Lessons learned workflow defined (PF-19)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Contractor scoring workflow defined (PF-18)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F8F00"/>
                </a:solidFill>
                <a:latin typeface="Calibri"/>
              </a:defRPr>
            </a:pPr>
            <a:r>
              <a:t>●  Compliance anomaly detection defined (PF-23)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Project archive sign-off &amp; audit trail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○  Outcomes fed back to future project briefs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✓ GREEN = Approved    ● AMBER = In Progress    ○ = 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31 PROCESS FLOWS — ALL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Document &amp; Correspondence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PF-01  Document Review (8-Step Cycle)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PF-02  FIDIC Correspondence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8988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537"/>
                </a:solidFill>
                <a:latin typeface="Calibri"/>
              </a:defRPr>
            </a:pPr>
            <a:r>
              <a:t>Financial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PF-03  IPC Certification &amp; Payment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PF-04  Variation / Change Order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PF-05  Budget Approval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PF-29  Final Account &amp; 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8988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008090"/>
                </a:solidFill>
                <a:latin typeface="Calibri"/>
              </a:defRPr>
            </a:pPr>
            <a:r>
              <a:t>Governance &amp;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9164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PF-06  Freeze Exception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PF-08  Stage-Gate Progression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PF-09  Approval Matrix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8016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28016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38988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2E7D32"/>
                </a:solidFill>
                <a:latin typeface="Calibri"/>
              </a:defRPr>
            </a:pPr>
            <a:r>
              <a:t>Procurement &amp;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69164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PF-07  Procurement (RFP to Award)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PF-10  Authority Submissions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PF-11  GSAS Compliance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PF-24  Mobilization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977640"/>
            <a:ext cx="2743200" cy="54864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8736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36454F"/>
                </a:solidFill>
                <a:latin typeface="Calibri"/>
              </a:defRPr>
            </a:pPr>
            <a:r>
              <a:t>Quality &amp; Inspection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8912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PF-12  IR &amp; NCR Lifecycle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PF-13  Site Reporting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PF-25  Testing &amp; Commissioning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PF-31  Snag List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97764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3977640"/>
            <a:ext cx="2743200" cy="54864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08736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FF8F00"/>
                </a:solidFill>
                <a:latin typeface="Calibri"/>
              </a:defRPr>
            </a:pPr>
            <a:r>
              <a:t>Handover &amp; DLP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8912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PF-14  Handover Package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PF-15  DLP Defect Lifecycle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PF-16  Warranty &amp; O&amp;M Database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PF-26  Post-Occupancy Services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PF-28  TOC Management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PF-30  Performance Certificate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97764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977640"/>
            <a:ext cx="274320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08736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6A1B9A"/>
                </a:solidFill>
                <a:latin typeface="Calibri"/>
              </a:defRPr>
            </a:pPr>
            <a:r>
              <a:t>KPI &amp;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38912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PF-17  KPI Dashboard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PF-18  Contractor Scoring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PF-19  Lessons Learned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PF-22  Predictive Cost Alerts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PF-23  Compliance Anomaly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977640"/>
            <a:ext cx="27432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3977640"/>
            <a:ext cx="2743200" cy="548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08736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006064"/>
                </a:solidFill>
                <a:latin typeface="Calibri"/>
              </a:defRPr>
            </a:pPr>
            <a:r>
              <a:t>Integration &amp;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389120"/>
            <a:ext cx="24688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PF-20  ERP Bi-Directional Sync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PF-21  External User Access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FF8F00"/>
                </a:solidFill>
                <a:latin typeface="Calibri"/>
              </a:defRPr>
            </a:pPr>
            <a:r>
              <a:t>● PF-27  Consultant Performance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DUAL CONTRACT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36454F"/>
                </a:solidFill>
                <a:latin typeface="Calibri"/>
              </a:defRPr>
            </a:pPr>
            <a:r>
              <a:t>Both construction and consultancy contracts are governed in parallel through a unified platform — not separate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3035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CONSTRUCTION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8463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FIDIC 1999 Red Book with Particular Conditions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Interim Payment Certificates (IPC) — Track B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Variation Orders with freeze-check logic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Time-bar management: 28/42/56/84-day notices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Contractor performance scoring (5 dimensions)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Taking Over Certificate, Final Account, Performance Certificate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Snagging, DLP defect lifecycle, retention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303520" cy="54864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2173D"/>
                </a:solidFill>
                <a:latin typeface="Calibri"/>
              </a:defRPr>
            </a:pPr>
            <a:r>
              <a:t>CONSULTANCY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Supervision consultancy (25 articles, 15 mgmt areas)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Consultant monthly payment &amp; KPI scoring (PF-27)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Timesheet verification and deduction logic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Staff mobilization/demobilization tracking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Deliverable quality assessment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Insurance, liability, and warranty compliance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 Contract close-out and final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Stage Gate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42316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10 gates (0–8)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with formal prerequisites,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exit checklists,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and automated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freeze activation.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97480" cy="91440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4-Type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Freeze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42316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Budget, Design,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Scope, Regulatory.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Exception-only changes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with higher-authority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approval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5-Level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68880"/>
            <a:ext cx="242316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L1: D-2 (gentle)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L2: D-5 (formal)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L3: D-10 (senior)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L4: 24h (critical)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L5: 48h (time-bar)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9748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7-Type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Approval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68880"/>
            <a:ext cx="242316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Budget, Comparison,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Contract, Advance,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IPC, Variation,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Design/Scope.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Value-threshold routing.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DELIVERABLES: 48+ DOCUMENTS — ALL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889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889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514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Master Governance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(001–008)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537"/>
                </a:solidFill>
                <a:latin typeface="Calibri"/>
              </a:defRPr>
            </a:pPr>
            <a:r>
              <a:t>8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25146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Implementation Guidebook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WBS Schedule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Process Flow Register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Cross-Link Index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Stage-Based Organization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Interactive Mind Map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Roadmap &amp; SkyStruct SOW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7889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7889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08760"/>
            <a:ext cx="2514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Configuration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(011–016)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537"/>
                </a:solidFill>
                <a:latin typeface="Calibri"/>
              </a:defRPr>
            </a:pPr>
            <a:r>
              <a:t>6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5146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System Configuration (60+ params)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User Roles &amp; Permissions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Workflow Engine Rules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Notification/Alert Rules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Form Template Specs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Dashboard/Reporting Specs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7889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7889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2514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Process Documentation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(021–029)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4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537"/>
                </a:solidFill>
                <a:latin typeface="Calibri"/>
              </a:defRPr>
            </a:pPr>
            <a:r>
              <a:t>9 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68880"/>
            <a:ext cx="25146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PF Action Sheets (31 PFs)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L1 Process Flow Narratives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L2 UI Wireframe Specs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L3 Data Model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L4 Acceptance Checklists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(Both standard + legacy versions)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889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371600"/>
            <a:ext cx="27889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508760"/>
            <a:ext cx="2514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Contract &amp; FIDIC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(031–037)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14884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537"/>
                </a:solidFill>
                <a:latin typeface="Calibri"/>
              </a:defRPr>
            </a:pPr>
            <a:r>
              <a:t>7 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468880"/>
            <a:ext cx="25146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FIDIC Response Action Cards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Contract Duration Matrix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Escalation Procedures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Gate Passage Checklists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Document Numbering System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8F00"/>
                </a:solidFill>
                <a:latin typeface="Calibri"/>
              </a:defRPr>
            </a:pPr>
            <a:r>
              <a:t>●  Communication Plan &amp; CMP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446520"/>
            <a:ext cx="11612880" cy="9144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889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606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  |  Weeks 1–8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7889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7889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Core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25146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PF-01, 02, 03, 04, 05, 06, 08, 09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Document management, correspondence,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financial controls, stage gates,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approval matrix, freeze controls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8980" y="1371600"/>
            <a:ext cx="2788920" cy="45720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0420" y="1417320"/>
            <a:ext cx="2606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  |  Weeks 9–16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8980" y="2103120"/>
            <a:ext cx="27889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8980" y="2103120"/>
            <a:ext cx="2788920" cy="54864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6140" y="224028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Extended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6140" y="2651760"/>
            <a:ext cx="25146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PF-07, 10, 11, 12, 13, 17, 19, 21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Procurement, authorities, GSAS,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quality, site reporting, KPI,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lessons learned, external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371600"/>
            <a:ext cx="278892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417320"/>
            <a:ext cx="2606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  |  Weeks 17–22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103120"/>
            <a:ext cx="27889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103120"/>
            <a:ext cx="2788920" cy="54864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24028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Handover &amp; DLP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51760"/>
            <a:ext cx="25146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PF-14, 15, 16, 18, 20, 24, 25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Handover package, DLP defects,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warranty, contractor scoring,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ERP sync, mobilization, T&amp;C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2540" y="1371600"/>
            <a:ext cx="2788920" cy="4572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83980" y="1417320"/>
            <a:ext cx="2606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  |  Weeks 23–28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2540" y="2103120"/>
            <a:ext cx="27889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92540" y="2103120"/>
            <a:ext cx="27889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9700" y="224028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Advanced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700" y="2651760"/>
            <a:ext cx="25146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PF-22, 23, 26, 27, 28, 29, 30, 31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Predictive analytics, compliance AI,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post-occupancy, consultant payment,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TOC, final account, snag 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789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TOTAL: 28 weeks  |  4 phases  |  Incremental activation  |  UAT at each gate  |  Full platform operational by Gate 5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Each phase includes configuration, testing, training, and formal acceptance before proceeding to the next.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IMPLEMENTATION SCHEDULE — GANTT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80160"/>
            <a:ext cx="859536" cy="201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9936" y="1280160"/>
            <a:ext cx="859536" cy="2011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59936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9472" y="1280160"/>
            <a:ext cx="859536" cy="201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9008" y="1280160"/>
            <a:ext cx="859536" cy="2011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8544" y="1280160"/>
            <a:ext cx="859536" cy="201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280160"/>
            <a:ext cx="859536" cy="2011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280160"/>
            <a:ext cx="859536" cy="201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1280160"/>
            <a:ext cx="859536" cy="2011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76688" y="1280160"/>
            <a:ext cx="859536" cy="201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6688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36224" y="1280160"/>
            <a:ext cx="859536" cy="2011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36224" y="1289304"/>
            <a:ext cx="85953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1E2761"/>
                </a:solidFill>
                <a:latin typeface="Calibri"/>
              </a:defRPr>
            </a:pPr>
            <a:r>
              <a:t>M10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59936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19472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79008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38544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0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57616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17152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76688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36224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795760" y="1554480"/>
            <a:ext cx="7315" cy="4526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1554480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155448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1E2761"/>
                </a:solidFill>
                <a:latin typeface="Calibri"/>
              </a:defRPr>
            </a:pPr>
            <a:r>
              <a:t>Phase 1 — Core Platform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1591056"/>
            <a:ext cx="1719072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185623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36454F"/>
                </a:solidFill>
                <a:latin typeface="Calibri"/>
              </a:defRPr>
            </a:pPr>
            <a:r>
              <a:t>  PF-01–09: Docs, Finance, Gates, Approvals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1911096"/>
            <a:ext cx="1504188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" y="2157984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2157984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36454F"/>
                </a:solidFill>
                <a:latin typeface="Calibri"/>
              </a:defRPr>
            </a:pPr>
            <a:r>
              <a:t>  UAT &amp; Sign-off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4588" y="2212848"/>
            <a:ext cx="214884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" y="2459736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008090"/>
                </a:solidFill>
                <a:latin typeface="Calibri"/>
              </a:defRPr>
            </a:pPr>
            <a:r>
              <a:t>Phase 2 — Extended Modules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19472" y="2496312"/>
            <a:ext cx="1719072" cy="201168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2761488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" y="27614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36454F"/>
                </a:solidFill>
                <a:latin typeface="Calibri"/>
              </a:defRPr>
            </a:pPr>
            <a:r>
              <a:t>  PF-07–21: Procurement, Quality, KPI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19472" y="2816352"/>
            <a:ext cx="1504188" cy="164592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306324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36454F"/>
                </a:solidFill>
                <a:latin typeface="Calibri"/>
              </a:defRPr>
            </a:pPr>
            <a:r>
              <a:t>  UAT &amp; Sign-off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23660" y="3118104"/>
            <a:ext cx="214884" cy="164592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" y="3364992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" y="336499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FF8F00"/>
                </a:solidFill>
                <a:latin typeface="Calibri"/>
              </a:defRPr>
            </a:pPr>
            <a:r>
              <a:t>Phase 3 — Handover &amp; DLP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38544" y="3401568"/>
            <a:ext cx="1289304" cy="20116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" y="3666744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36454F"/>
                </a:solidFill>
                <a:latin typeface="Calibri"/>
              </a:defRPr>
            </a:pPr>
            <a:r>
              <a:t>  PF-14–25: Handover, DLP, Mobil, T&amp;C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38544" y="3721608"/>
            <a:ext cx="1289304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3968496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" y="3968496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4A537"/>
                </a:solidFill>
                <a:latin typeface="Calibri"/>
              </a:defRPr>
            </a:pPr>
            <a:r>
              <a:t>Phase 4 — Advanced Analytics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27848" y="4005072"/>
            <a:ext cx="1289304" cy="20116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" y="427024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36454F"/>
                </a:solidFill>
                <a:latin typeface="Calibri"/>
              </a:defRPr>
            </a:pPr>
            <a:r>
              <a:t>  PF-22–31: Predictive, Compliance, Final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27848" y="4325112"/>
            <a:ext cx="1289304" cy="16459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440" y="4572000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" y="45720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6A1B9A"/>
                </a:solidFill>
                <a:latin typeface="Calibri"/>
              </a:defRPr>
            </a:pPr>
            <a:r>
              <a:t>SkyStruct Platform Integration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4608576"/>
            <a:ext cx="1289304" cy="20116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" y="487375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C62828"/>
                </a:solidFill>
                <a:latin typeface="Calibri"/>
              </a:defRPr>
            </a:pPr>
            <a:r>
              <a:t>ERP Integration (Finance/Procurement)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20" y="4910328"/>
            <a:ext cx="859536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40" y="5175504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" y="5175504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008090"/>
                </a:solidFill>
                <a:latin typeface="Calibri"/>
              </a:defRPr>
            </a:pPr>
            <a:r>
              <a:t>Training &amp; Onboarding (All Teams)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76688" y="5212080"/>
            <a:ext cx="859536" cy="201168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7160" y="5477256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Pilot Project (1st Live Project)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21340" y="5513832"/>
            <a:ext cx="10744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440" y="5779008"/>
            <a:ext cx="11795760" cy="274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7160" y="57790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★  FULL OPERATIONAL GO-LIVE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580876" y="5815584"/>
            <a:ext cx="214884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82262" y="1508760"/>
            <a:ext cx="22860" cy="4617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07942" y="1325880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C62828"/>
                </a:solidFill>
                <a:latin typeface="Calibri"/>
              </a:defRPr>
            </a:pPr>
            <a:r>
              <a:t>▼ TODAY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135624"/>
            <a:ext cx="11247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700" b="0">
                <a:solidFill>
                  <a:srgbClr val="8A8A8A"/>
                </a:solidFill>
                <a:latin typeface="Calibri"/>
              </a:defRPr>
            </a:pPr>
            <a:r>
              <a:t>█ Navy = Core    █ Teal = Extended    █ Amber = Handover    █ Gold = Analytics    █ Purple = SkyStruct    █ Red = ERP    █ Green = Pilot    |    40 weeks total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WHERE WE ARE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●  BUILT — Governance Framework 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30352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FF8F00"/>
                </a:solidFill>
                <a:latin typeface="Calibri"/>
              </a:defRPr>
            </a:pPr>
            <a:r>
              <a:t>●  31 Process Flows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All defined, documented with action sheets, narratives, wireframes, data models, acceptance checklists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FF8F00"/>
                </a:solidFill>
                <a:latin typeface="Calibri"/>
              </a:defRPr>
            </a:pPr>
            <a:r>
              <a:t>●  48+ Documents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Implementation Guidebook, System Configuration, FIDIC Action Cards, Gate Checklists, Communication Plans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2E7D32"/>
                </a:solidFill>
                <a:latin typeface="Calibri"/>
              </a:defRPr>
            </a:pPr>
            <a:r>
              <a:t>✓  Feasibility Studies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Completed and approved by CEO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2E7D32"/>
                </a:solidFill>
                <a:latin typeface="Calibri"/>
              </a:defRPr>
            </a:pPr>
            <a:r>
              <a:t>✓  Budget &amp; Programme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Aligned and approved — budget freeze baseline established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2E7D32"/>
                </a:solidFill>
                <a:latin typeface="Calibri"/>
              </a:defRPr>
            </a:pPr>
            <a:r>
              <a:t>✓  Schedule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WBS and implementation roadmap approved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FF8F00"/>
                </a:solidFill>
                <a:latin typeface="Calibri"/>
              </a:defRPr>
            </a:pPr>
            <a:r>
              <a:t>●  10 Stage Gates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RIBA Plan of Work 2020 aligned, prerequisites defined, freeze triggers mapped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FF8F00"/>
                </a:solidFill>
                <a:latin typeface="Calibri"/>
              </a:defRPr>
            </a:pPr>
            <a:r>
              <a:t>●  23 Process Flow Diagrams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Visual flowcharts (.drawio) for PF-01 through PF-23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FF8F00"/>
                </a:solidFill>
                <a:latin typeface="Calibri"/>
              </a:defRPr>
            </a:pPr>
            <a:r>
              <a:t>●  Interactive Mind Map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36454F"/>
                </a:solidFill>
                <a:latin typeface="Calibri"/>
              </a:defRPr>
            </a:pPr>
            <a:r>
              <a:t>     D3.js live navigation of entire governance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99032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○  NEXT — Implementation &amp;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30352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Submittal Cover Page Templates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Master hierarchy of all submittal types mapped to FIDIC clauses and QCS 2014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SkyStruct Platform Configuration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Load all 60+ parameters, workflow rules, notification triggers into live system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User Training &amp; Onboarding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Role-based training for PM, QS, Site, Finance, Admin teams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UAT Execution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Run acceptance checklists per gate, validate each PF in live environment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ERP Integration Go-Live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Bi-directional sync activation with finance/procurement ERP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RIBA Correction to Source Docs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Propagate RIBA 2020 stage names to all source documents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Project-Specific Configuration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Load actual contract values, milestones, team assignments per project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○  Pilot Project Launch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8A8A8A"/>
                </a:solidFill>
                <a:latin typeface="Calibri"/>
              </a:defRPr>
            </a:pPr>
            <a:r>
              <a:t>     First project goes live on SkyStruct with full governance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ARADA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Zero Time-Bar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42316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Every contractual deadline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automatically tracked.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5-level escalation ensures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no notice is ever missed.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97480" cy="91440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Full Audit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42316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Every decision, approval, and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change logged with timestamp,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user, and rationale.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Claims-ready documentation.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68880"/>
            <a:ext cx="242316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CEO/Board dashboards with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live KPIs: cost deviation,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schedule variance, approval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turnaround, risk status.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97480" cy="914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423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Scalable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68880"/>
            <a:ext cx="242316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Parametric configuration means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the same platform governs any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HAI project — residential,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commercial, mixed-use.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BOTTOM LINE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From Drawing to Breathing — every stage covered, every deadline enforced, every decision traceable. This is governance as amanah.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CADCFC"/>
                </a:solidFill>
                <a:latin typeface="Calibri"/>
              </a:defRPr>
            </a:pPr>
            <a:r>
              <a:t>HAI  |  ARADA Governance  |  SkyStruct Platform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  <a:p>
            <a:pPr algn="ctr">
              <a:spcAft>
                <a:spcPts val="1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F5E6C8"/>
                </a:solidFill>
                <a:latin typeface="Calibri"/>
              </a:defRPr>
            </a:pPr>
            <a:r>
              <a:t>“And do good. Indeed, Allah loves the doers of good.”</a:t>
            </a:r>
          </a:p>
          <a:p>
            <a:pPr algn="ctr">
              <a:spcAft>
                <a:spcPts val="1600"/>
              </a:spcAft>
              <a:defRPr sz="1100" b="0">
                <a:solidFill>
                  <a:srgbClr val="8A8A8A"/>
                </a:solidFill>
                <a:latin typeface="Calibri"/>
              </a:defRPr>
            </a:pPr>
            <a:r>
              <a:t>  — Al-Baqarah 2:195</a:t>
            </a:r>
          </a:p>
          <a:p>
            <a:pPr algn="ctr">
              <a:spcAft>
                <a:spcPts val="1200"/>
              </a:spcAft>
              <a:defRPr sz="2000" b="0">
                <a:solidFill>
                  <a:srgbClr val="CADCFC"/>
                </a:solidFill>
                <a:latin typeface="Calibri"/>
              </a:defRPr>
            </a:pPr>
            <a:r>
              <a:t>Thank you for your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114800"/>
            <a:ext cx="576072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4297680"/>
            <a:ext cx="53035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Hasan Mollamahmutoglu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Chief Governance Architect  |  Employer's Representative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D4A537"/>
                </a:solidFill>
                <a:latin typeface="Calibri"/>
              </a:defRPr>
            </a:pPr>
            <a:r>
              <a:t>House of Architecture &amp; Interiors  |  ARADA Governance  |  Qatar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